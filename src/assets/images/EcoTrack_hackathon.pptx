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y="7315200" cx="97536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1520" y="0"/>
            <a:ext cx="9525" cy="7666245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3" name="Group 3"/>
          <p:cNvGrpSpPr/>
          <p:nvPr/>
        </p:nvGrpSpPr>
        <p:grpSpPr>
          <a:xfrm>
            <a:off x="325798" y="6669405"/>
            <a:ext cx="87739" cy="482566"/>
            <a:chOff x="0" y="0"/>
            <a:chExt cx="116986" cy="643422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2" name="AutoShape 12"/>
          <p:cNvSpPr/>
          <p:nvPr/>
        </p:nvSpPr>
        <p:spPr>
          <a:xfrm>
            <a:off x="9012555" y="0"/>
            <a:ext cx="9525" cy="766624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AutoShape 13"/>
          <p:cNvSpPr/>
          <p:nvPr/>
        </p:nvSpPr>
        <p:spPr>
          <a:xfrm>
            <a:off x="-186703" y="4783112"/>
            <a:ext cx="10038632" cy="236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Freeform 14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5032" y="93890"/>
            <a:ext cx="660329" cy="637630"/>
          </a:xfrm>
          <a:custGeom>
            <a:avLst/>
            <a:gdLst/>
            <a:ahLst/>
            <a:cxnLst/>
            <a:rect l="l" t="t" r="r" b="b"/>
            <a:pathLst>
              <a:path w="660329" h="637630">
                <a:moveTo>
                  <a:pt x="0" y="0"/>
                </a:moveTo>
                <a:lnTo>
                  <a:pt x="660329" y="0"/>
                </a:lnTo>
                <a:lnTo>
                  <a:pt x="660329" y="637630"/>
                </a:lnTo>
                <a:lnTo>
                  <a:pt x="0" y="637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0" y="770429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Freeform 17"/>
          <p:cNvSpPr/>
          <p:nvPr/>
        </p:nvSpPr>
        <p:spPr>
          <a:xfrm>
            <a:off x="7192423" y="105022"/>
            <a:ext cx="1702827" cy="626498"/>
          </a:xfrm>
          <a:custGeom>
            <a:avLst/>
            <a:gdLst/>
            <a:ahLst/>
            <a:cxnLst/>
            <a:rect l="l" t="t" r="r" b="b"/>
            <a:pathLst>
              <a:path w="1702827" h="626498">
                <a:moveTo>
                  <a:pt x="0" y="0"/>
                </a:moveTo>
                <a:lnTo>
                  <a:pt x="1702827" y="0"/>
                </a:lnTo>
                <a:lnTo>
                  <a:pt x="1702827" y="626498"/>
                </a:lnTo>
                <a:lnTo>
                  <a:pt x="0" y="626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390205" y="1827655"/>
            <a:ext cx="7177893" cy="1862020"/>
            <a:chOff x="0" y="0"/>
            <a:chExt cx="9570524" cy="248269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04775"/>
              <a:ext cx="9570524" cy="1316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80"/>
                </a:lnSpc>
              </a:pPr>
              <a:r>
                <a:rPr lang="en-US" sz="7000" b="1" spc="11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EcoTrack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139170"/>
              <a:ext cx="9570524" cy="343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1"/>
                </a:lnSpc>
              </a:pPr>
              <a:r>
                <a:rPr lang="en-US" sz="1551" spc="186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Scan your receipt. See your footprint. Shop greener.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7504" y="5170931"/>
            <a:ext cx="53032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ECOTRACK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7504" y="5726023"/>
            <a:ext cx="7800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 Baselios Institute of Technology and Science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9904" y="5106021"/>
            <a:ext cx="53032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Akshay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17000" y="0"/>
            <a:ext cx="9525" cy="748583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Box 3"/>
          <p:cNvSpPr txBox="1"/>
          <p:nvPr/>
        </p:nvSpPr>
        <p:spPr>
          <a:xfrm>
            <a:off x="1130741" y="445089"/>
            <a:ext cx="7600000" cy="124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being Faked/Exploited?</a:t>
            </a:r>
          </a:p>
        </p:txBody>
      </p:sp>
      <p:sp>
        <p:nvSpPr>
          <p:cNvPr id="4" name="AutoShape 4"/>
          <p:cNvSpPr/>
          <p:nvPr/>
        </p:nvSpPr>
        <p:spPr>
          <a:xfrm>
            <a:off x="-2787" y="0"/>
            <a:ext cx="738752" cy="168623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AutoShape 5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6" name="Group 6"/>
          <p:cNvGrpSpPr/>
          <p:nvPr/>
        </p:nvGrpSpPr>
        <p:grpSpPr>
          <a:xfrm>
            <a:off x="325798" y="6680262"/>
            <a:ext cx="87739" cy="482566"/>
            <a:chOff x="0" y="0"/>
            <a:chExt cx="116986" cy="64342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5" name="TextBox 15"/>
          <p:cNvSpPr txBox="1"/>
          <p:nvPr/>
        </p:nvSpPr>
        <p:spPr>
          <a:xfrm>
            <a:off x="1170956" y="2700000"/>
            <a:ext cx="7600000" cy="35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buNone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Greenwashing: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products are sold as "eco-friendly", "green" or "natural" with no numbers behind the claim. Impact data is missing from the shelf and the receipt, so shoppers cannot check what their groceries really cost the climate.</a:t>
            </a:r>
          </a:p>
          <a:p>
            <a:pPr algn="l" marL="285750" indent="-285750">
              <a:lnSpc>
                <a:spcPts val="1959"/>
              </a:lnSpc>
              <a:spcBef>
                <a:spcPts val="900"/>
              </a:spcBef>
              <a:buFont typeface="Arial"/>
              <a:buChar char="•"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Victim: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everyday shoppers who pay extra for "green" products they cannot verify.</a:t>
            </a:r>
          </a:p>
          <a:p>
            <a:pPr algn="l" marL="285750" indent="-285750">
              <a:lnSpc>
                <a:spcPts val="1959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Target: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consumer trust, and the good intent to shop more sustainably.</a:t>
            </a:r>
          </a:p>
          <a:p>
            <a:pPr algn="l" marL="285750" indent="-285750">
              <a:lnSpc>
                <a:spcPts val="1959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Business: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brands profit from vague claims, while honest local producers lose out to better marketing.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0956" y="2174774"/>
            <a:ext cx="6607850" cy="357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sz="2147" b="1" spc="257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Description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0" y="6555057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TextBox 19"/>
          <p:cNvSpPr txBox="1"/>
          <p:nvPr/>
        </p:nvSpPr>
        <p:spPr>
          <a:xfrm>
            <a:off x="241321" y="712470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564" y="496441"/>
            <a:ext cx="6572549" cy="62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will we stop it?</a:t>
            </a:r>
          </a:p>
        </p:txBody>
      </p:sp>
      <p:sp>
        <p:nvSpPr>
          <p:cNvPr id="3" name="AutoShape 3"/>
          <p:cNvSpPr/>
          <p:nvPr/>
        </p:nvSpPr>
        <p:spPr>
          <a:xfrm>
            <a:off x="9017000" y="-216918"/>
            <a:ext cx="9525" cy="782187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AutoShape 4"/>
          <p:cNvSpPr/>
          <p:nvPr/>
        </p:nvSpPr>
        <p:spPr>
          <a:xfrm>
            <a:off x="-69603" y="1683678"/>
            <a:ext cx="9823203" cy="956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TextBox 5"/>
          <p:cNvSpPr txBox="1"/>
          <p:nvPr/>
        </p:nvSpPr>
        <p:spPr>
          <a:xfrm>
            <a:off x="9245141" y="545401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3564" y="2000000"/>
            <a:ext cx="7350000" cy="4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buNone/>
            </a:pP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EcoTrack replaces unverifiable eco-claims with numbers taken from the shopper's own receipt.</a:t>
            </a:r>
          </a:p>
          <a:p>
            <a:pPr algn="l" marL="285750" indent="-285750">
              <a:lnSpc>
                <a:spcPts val="1959"/>
              </a:lnSpc>
              <a:spcBef>
                <a:spcPts val="1000"/>
              </a:spcBef>
              <a:buFont typeface="Arial"/>
              <a:buChar char="•"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Scan: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OCR reads the receipt and pulls out items, quantities and units.</a:t>
            </a:r>
          </a:p>
          <a:p>
            <a:pPr algn="l" marL="285750" indent="-285750">
              <a:lnSpc>
                <a:spcPts val="1959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Match: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each item is mapped to a category with a predefined emission factor (kg CO2e per kg), so marketing labels do not affect the result.</a:t>
            </a:r>
          </a:p>
          <a:p>
            <a:pPr algn="l" marL="285750" indent="-285750">
              <a:lnSpc>
                <a:spcPts val="1959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Reveal: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a dashboard shows the total footprint and ranks the highest-impact products.</a:t>
            </a:r>
          </a:p>
          <a:p>
            <a:pPr algn="l" marL="285750" indent="-285750">
              <a:lnSpc>
                <a:spcPts val="1959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Redirect: </a:t>
            </a:r>
            <a:r>
              <a:rPr lang="en-US" sz="14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suggests lower-impact, locally available alternatives and shows the CO2e saved by each swap.</a:t>
            </a:r>
          </a:p>
        </p:txBody>
      </p:sp>
      <p:sp>
        <p:nvSpPr>
          <p:cNvPr id="7" name="Freeform 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9" name="Group 9"/>
          <p:cNvGrpSpPr/>
          <p:nvPr/>
        </p:nvGrpSpPr>
        <p:grpSpPr>
          <a:xfrm>
            <a:off x="325798" y="6699312"/>
            <a:ext cx="87739" cy="482566"/>
            <a:chOff x="0" y="0"/>
            <a:chExt cx="116986" cy="6434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8" name="AutoShape 18"/>
          <p:cNvSpPr/>
          <p:nvPr/>
        </p:nvSpPr>
        <p:spPr>
          <a:xfrm>
            <a:off x="-2787" y="0"/>
            <a:ext cx="738752" cy="168623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AutoShape 19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3006" y="-19075"/>
            <a:ext cx="788971" cy="172020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AutoShape 3"/>
          <p:cNvSpPr/>
          <p:nvPr/>
        </p:nvSpPr>
        <p:spPr>
          <a:xfrm>
            <a:off x="9017000" y="-115563"/>
            <a:ext cx="9525" cy="751072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AutoShape 4"/>
          <p:cNvSpPr/>
          <p:nvPr/>
        </p:nvSpPr>
        <p:spPr>
          <a:xfrm>
            <a:off x="0" y="1691580"/>
            <a:ext cx="9753600" cy="95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AutoShape 5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Box 6"/>
          <p:cNvSpPr txBox="1"/>
          <p:nvPr/>
        </p:nvSpPr>
        <p:spPr>
          <a:xfrm>
            <a:off x="1479698" y="488354"/>
            <a:ext cx="5779401" cy="62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9698" y="1950000"/>
            <a:ext cx="7300000" cy="44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285750" indent="-285750">
              <a:lnSpc>
                <a:spcPts val="1819"/>
              </a:lnSpc>
              <a:spcBef>
                <a:spcPts val="0"/>
              </a:spcBef>
              <a:buFont typeface="Arial"/>
              <a:buChar char="•"/>
            </a:pPr>
            <a:r>
              <a:rPr lang="en-US" sz="13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App: </a:t>
            </a:r>
            <a:r>
              <a:rPr lang="en-US" sz="13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Flutter (Android and iOS) for receipt capture, dashboard and swap suggestions.</a:t>
            </a:r>
          </a:p>
          <a:p>
            <a:pPr algn="l" marL="285750" indent="-285750">
              <a:lnSpc>
                <a:spcPts val="1819"/>
              </a:lnSpc>
              <a:spcBef>
                <a:spcPts val="600"/>
              </a:spcBef>
              <a:buFont typeface="Arial"/>
              <a:buChar char="•"/>
            </a:pPr>
            <a:r>
              <a:rPr lang="en-US" sz="13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OCR: </a:t>
            </a:r>
            <a:r>
              <a:rPr lang="en-US" sz="13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Google ML Kit on-device text recognition turns the photo into text lines.</a:t>
            </a:r>
          </a:p>
          <a:p>
            <a:pPr algn="l" marL="285750" indent="-285750">
              <a:lnSpc>
                <a:spcPts val="1819"/>
              </a:lnSpc>
              <a:spcBef>
                <a:spcPts val="600"/>
              </a:spcBef>
              <a:buFont typeface="Arial"/>
              <a:buChar char="•"/>
            </a:pPr>
            <a:r>
              <a:rPr lang="en-US" sz="13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Parsing: </a:t>
            </a:r>
            <a:r>
              <a:rPr lang="en-US" sz="13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a FastAPI service extracts item, quantity and price; fuzzy matching maps abbreviated names (e.g. "ORG BAN 1KG") to product categories.</a:t>
            </a:r>
          </a:p>
          <a:p>
            <a:pPr algn="l" marL="285750" indent="-285750">
              <a:lnSpc>
                <a:spcPts val="1819"/>
              </a:lnSpc>
              <a:spcBef>
                <a:spcPts val="600"/>
              </a:spcBef>
              <a:buFont typeface="Arial"/>
              <a:buChar char="•"/>
            </a:pPr>
            <a:r>
              <a:rPr lang="en-US" sz="13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Emissions engine: </a:t>
            </a:r>
            <a:r>
              <a:rPr lang="en-US" sz="13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footprint = quantity x emission factor (kg CO2e per kg) from published life-cycle datasets, totalled per category.</a:t>
            </a:r>
          </a:p>
          <a:p>
            <a:pPr algn="l" marL="285750" indent="-285750">
              <a:lnSpc>
                <a:spcPts val="1819"/>
              </a:lnSpc>
              <a:spcBef>
                <a:spcPts val="600"/>
              </a:spcBef>
              <a:buFont typeface="Arial"/>
              <a:buChar char="•"/>
            </a:pPr>
            <a:r>
              <a:rPr lang="en-US" sz="13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Recommendations: </a:t>
            </a:r>
            <a:r>
              <a:rPr lang="en-US" sz="13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a rule-based swap table takes the top emitters and suggests local, lower-impact options with CO2e saved.</a:t>
            </a:r>
          </a:p>
          <a:p>
            <a:pPr algn="l" marL="285750" indent="-285750">
              <a:lnSpc>
                <a:spcPts val="1819"/>
              </a:lnSpc>
              <a:spcBef>
                <a:spcPts val="600"/>
              </a:spcBef>
              <a:buFont typeface="Arial"/>
              <a:buChar char="•"/>
            </a:pPr>
            <a:r>
              <a:rPr lang="en-US" sz="13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Storage: </a:t>
            </a:r>
            <a:r>
              <a:rPr lang="en-US" sz="13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Firebase Auth and Firestore keep scan history and monthly trends.</a:t>
            </a:r>
          </a:p>
          <a:p>
            <a:pPr algn="l" marL="285750" indent="-285750">
              <a:lnSpc>
                <a:spcPts val="1819"/>
              </a:lnSpc>
              <a:spcBef>
                <a:spcPts val="600"/>
              </a:spcBef>
              <a:buFont typeface="Arial"/>
              <a:buChar char="•"/>
            </a:pPr>
            <a:r>
              <a:rPr lang="en-US" sz="13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Live demo: </a:t>
            </a:r>
            <a:r>
              <a:rPr lang="en-US" sz="13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scan a real receipt, see the footprint, the top 3 offenders and a swap in under a minute.</a:t>
            </a:r>
          </a:p>
        </p:txBody>
      </p:sp>
      <p:sp>
        <p:nvSpPr>
          <p:cNvPr id="8" name="Freeform 8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10" name="Group 10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9" name="TextBox 19"/>
          <p:cNvSpPr txBox="1"/>
          <p:nvPr/>
        </p:nvSpPr>
        <p:spPr>
          <a:xfrm>
            <a:off x="242924" y="716044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17000" y="-40858"/>
            <a:ext cx="9525" cy="7556654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3" name="Group 3"/>
          <p:cNvGrpSpPr/>
          <p:nvPr/>
        </p:nvGrpSpPr>
        <p:grpSpPr>
          <a:xfrm>
            <a:off x="3204177" y="731520"/>
            <a:ext cx="4501240" cy="1218868"/>
            <a:chOff x="0" y="0"/>
            <a:chExt cx="6001653" cy="16251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333683"/>
              <a:ext cx="6001653" cy="291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8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6001653" cy="755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06"/>
                </a:lnSpc>
              </a:pPr>
              <a:r>
                <a:rPr lang="en-US" sz="3880" b="1" spc="6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731520" y="0"/>
            <a:ext cx="9525" cy="7315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Freeform 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7" name="AutoShape 17"/>
          <p:cNvSpPr/>
          <p:nvPr/>
        </p:nvSpPr>
        <p:spPr>
          <a:xfrm>
            <a:off x="0" y="6564582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Box 18"/>
          <p:cNvSpPr txBox="1"/>
          <p:nvPr/>
        </p:nvSpPr>
        <p:spPr>
          <a:xfrm>
            <a:off x="9245141" y="486300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2" name="Conclusion Body"/>
          <p:cNvSpPr txBox="1"/>
          <p:nvPr/>
        </p:nvSpPr>
        <p:spPr>
          <a:xfrm>
            <a:off x="1283564" y="2350000"/>
            <a:ext cx="7350000" cy="38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marL="285750" indent="-285750">
              <a:lnSpc>
                <a:spcPts val="2100"/>
              </a:lnSpc>
              <a:spcBef>
                <a:spcPts val="0"/>
              </a:spcBef>
              <a:buFont typeface="Arial"/>
              <a:buChar char="•"/>
            </a:pPr>
            <a:r>
              <a:rPr lang="en-US" sz="15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Impact: </a:t>
            </a:r>
            <a:r>
              <a:rPr lang="en-US" sz="15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turns an everyday receipt into a personal carbon footprint, with no manual logging.</a:t>
            </a:r>
          </a:p>
          <a:p>
            <a:pPr algn="l" marL="285750" indent="-285750">
              <a:lnSpc>
                <a:spcPts val="21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Trust: </a:t>
            </a:r>
            <a:r>
              <a:rPr lang="en-US" sz="15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replaces vague eco-labels with evidence, so shoppers are not misled by greenwashing.</a:t>
            </a:r>
          </a:p>
          <a:p>
            <a:pPr algn="l" marL="285750" indent="-285750">
              <a:lnSpc>
                <a:spcPts val="21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Action: </a:t>
            </a:r>
            <a:r>
              <a:rPr lang="en-US" sz="15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points to lower-impact, locally available swaps and supports local producers.</a:t>
            </a:r>
          </a:p>
          <a:p>
            <a:pPr algn="l" marL="285750" indent="-285750">
              <a:lnSpc>
                <a:spcPts val="21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Next: </a:t>
            </a:r>
            <a:r>
              <a:rPr lang="en-US" sz="1500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barcode scanning for accuracy, regional-language receipts, store-specific data, and monthly reduction goals.</a:t>
            </a:r>
          </a:p>
          <a:p>
            <a:pPr algn="l">
              <a:lnSpc>
                <a:spcPts val="2240"/>
              </a:lnSpc>
              <a:spcBef>
                <a:spcPts val="2200"/>
              </a:spcBef>
              <a:buNone/>
            </a:pPr>
            <a:r>
              <a:rPr lang="en-US" sz="1600" b="1" spc="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 xml:space="preserve">Scan your receipt. See your footprint. Shop greener.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